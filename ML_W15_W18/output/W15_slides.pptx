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400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D27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智工系二年級 ｜《機器學習》課程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機器學習 W15-W18 視覺化整合單元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9C46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W15 ｜ 視覺化語彙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33172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用 ML 模型結果學會「看見估算」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40080" y="40233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D27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FT Vocabulary × 四個必畫 × AI 鷹架三段式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" y="5486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陳志騰(Allen)、吳佩蓉 ｜ 智慧工程學系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58521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W15 第 1-3 堂 ｜ 3 堂 × 50 分鐘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09728" cy="5943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W15 學完三件事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前 14 週主要是『跑模型』, W15 起改為『把模型結果說給人聽』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E76F5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應用費米推論 檢驗 ML 模型輸出的合理性</a:t>
            </a:r>
            <a:endParaRPr lang="en-US" sz="1800" dirty="0"/>
          </a:p>
          <a:p>
            <a:pPr lvl="1" marL="6858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  例如:accuracy=0.99 是真的還是 data leakage?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E76F5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依資料特性 參照 FT Visual Vocabulary 選對圖</a:t>
            </a:r>
            <a:endParaRPr lang="en-US" sz="1800" dirty="0"/>
          </a:p>
          <a:p>
            <a:pPr lvl="1" marL="6858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  混淆矩陣 vs ROC vs 特徵重要性 各有何時用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E76F5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建立 視覺編碼直覺</a:t>
            </a:r>
            <a:endParaRPr lang="en-US" sz="1800" dirty="0"/>
          </a:p>
          <a:p>
            <a:pPr lvl="1" marL="6858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  位置 &gt; 長度 &gt; 顏色;類別才用色相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E76F5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用 AI 鷹架 協助產出 matplotlib/seaborn 程式碼</a:t>
            </a:r>
            <a:endParaRPr lang="en-US" sz="1800" dirty="0"/>
          </a:p>
          <a:p>
            <a:pPr lvl="1" marL="6858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  本週 3 個 AI 鷹架 → 全部上傳 TronClass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6492240"/>
            <a:ext cx="1127729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智工系二年級 ｜《機器學習》課程 ｜ 陳志騰(Allen)、吳佩蓉 ｜ 智慧工程學系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0" y="6565392"/>
            <a:ext cx="12188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 / 28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E7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4572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0" b="1" dirty="0">
                <a:solidFill>
                  <a:srgbClr val="E76F51">
                    <a:alpha val="70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§1</a:t>
            </a:r>
            <a:endParaRPr lang="en-US" sz="18000" dirty="0"/>
          </a:p>
        </p:txBody>
      </p:sp>
      <p:sp>
        <p:nvSpPr>
          <p:cNvPr id="3" name="Text 1"/>
          <p:cNvSpPr/>
          <p:nvPr/>
        </p:nvSpPr>
        <p:spPr>
          <a:xfrm>
            <a:off x="5029200" y="2103120"/>
            <a:ext cx="66751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第一堂:費米暖身與視覺化語彙導論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29200" y="3840480"/>
            <a:ext cx="6675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為什麼一個 accuracy 不夠你判斷模型好不好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29200" y="466344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2A9D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50 分鐘 ｜ 費米 15 + 概念 25 + 收尾 10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6492240"/>
            <a:ext cx="1127729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智工系二年級 ｜《機器學習》課程 ｜ 陳志騰(Allen)、吳佩蓉 ｜ 智慧工程學系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0" y="6565392"/>
            <a:ext cx="12188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 / 28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09728" cy="5943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[費米 Q] 一個 accuracy=0.95 的模型,一天錯判幾位?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在你動手畫圖之前,先建立對數量級的直覺</a:t>
            </a:r>
            <a:endParaRPr lang="en-US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08813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5943600"/>
                <a:gridCol w="384048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Step</a:t>
                      </a:r>
                      <a:endParaRPr lang="en-US" sz="16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拆解</a:t>
                      </a:r>
                      <a:endParaRPr lang="en-US" sz="16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量級估算</a:t>
                      </a:r>
                      <a:endParaRPr lang="en-US" sz="16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65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見</a:t>
                      </a:r>
                      <a:endParaRPr lang="en-US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一天有多少病人做乳房攝影?</a:t>
                      </a:r>
                      <a:endParaRPr lang="en-US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約 80-120 人/日</a:t>
                      </a:r>
                      <a:endParaRPr lang="en-US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見</a:t>
                      </a:r>
                      <a:endParaRPr lang="en-US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其中陽性(真有問題)的比例?</a:t>
                      </a:r>
                      <a:endParaRPr lang="en-US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約 1-3%(基準率)</a:t>
                      </a:r>
                      <a:endParaRPr lang="en-US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識</a:t>
                      </a:r>
                      <a:endParaRPr lang="en-US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95% accuracy 但 prevalence 只有 2%,意味什麼?</a:t>
                      </a:r>
                      <a:endParaRPr lang="en-US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accuracy 騙人,要看 recall</a:t>
                      </a:r>
                      <a:endParaRPr lang="en-US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識</a:t>
                      </a:r>
                      <a:endParaRPr lang="en-US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若 recall=0.80, precision=0.30,每天遺漏幾位?</a:t>
                      </a:r>
                      <a:endParaRPr lang="en-US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≈ 0.4 位</a:t>
                      </a:r>
                      <a:endParaRPr lang="en-US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謀</a:t>
                      </a:r>
                      <a:endParaRPr lang="en-US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視覺化要怎麼讓主管看到衝突?</a:t>
                      </a:r>
                      <a:endParaRPr lang="en-US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畫混淆矩陣 + PR 曲線,不畫單一 accuracy</a:t>
                      </a:r>
                      <a:endParaRPr lang="en-US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6492240"/>
            <a:ext cx="1127729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智工系二年級 ｜《機器學習》課程 ｜ 陳志騰(Allen)、吳佩蓉 ｜ 智慧工程學系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0515600" y="6565392"/>
            <a:ext cx="12188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 / 28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09728" cy="5943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視覺編碼:把數據映射到視覺特徵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重要訊息用精準通道,類別才用色相</a:t>
            </a:r>
            <a:endParaRPr lang="en-US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088136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3200400"/>
                <a:gridCol w="4480560"/>
              </a:tblGrid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編碼通道</a:t>
                      </a:r>
                      <a:endParaRPr lang="en-US" sz="17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人眼解碼精準度</a:t>
                      </a:r>
                      <a:endParaRPr lang="en-US" sz="17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ML 適用情境</a:t>
                      </a:r>
                      <a:endParaRPr lang="en-US" sz="17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653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位置 (position)</a:t>
                      </a:r>
                      <a:endParaRPr lang="en-US" sz="15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★★★★★</a:t>
                      </a:r>
                      <a:endParaRPr lang="en-US" sz="15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散佈圖看 X vs Y、PCA 投影</a:t>
                      </a:r>
                      <a:endParaRPr lang="en-US" sz="15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長度 (length)</a:t>
                      </a:r>
                      <a:endParaRPr lang="en-US" sz="15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★★★★</a:t>
                      </a:r>
                      <a:endParaRPr lang="en-US" sz="15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長條圖看特徵重要性</a:t>
                      </a:r>
                      <a:endParaRPr lang="en-US" sz="15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角度/面積</a:t>
                      </a:r>
                      <a:endParaRPr lang="en-US" sz="15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★★ 易誤判</a:t>
                      </a:r>
                      <a:endParaRPr lang="en-US" sz="15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樹狀圖、避免圓餅圖</a:t>
                      </a:r>
                      <a:endParaRPr lang="en-US" sz="15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顏色深淺</a:t>
                      </a:r>
                      <a:endParaRPr lang="en-US" sz="15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★★</a:t>
                      </a:r>
                      <a:endParaRPr lang="en-US" sz="15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熱圖看相關矩陣</a:t>
                      </a:r>
                      <a:endParaRPr lang="en-US" sz="15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顏色色相</a:t>
                      </a:r>
                      <a:endParaRPr lang="en-US" sz="15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★ 僅適合類別</a:t>
                      </a:r>
                      <a:endParaRPr lang="en-US" sz="15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分類結果上色</a:t>
                      </a:r>
                      <a:endParaRPr lang="en-US" sz="15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5074920"/>
            <a:ext cx="11277295" cy="1325880"/>
          </a:xfrm>
          <a:prstGeom prst="rect">
            <a:avLst/>
          </a:prstGeom>
          <a:solidFill>
            <a:srgbClr val="FBE7E0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5074920"/>
            <a:ext cx="109728" cy="132588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51663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E76F5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把 class label 畫成漸層色 (spectral) 是大忌——類別之間沒有順序。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777240" y="585216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規則:位置 &gt; 長度 &gt; 顏色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57200" y="6492240"/>
            <a:ext cx="1127729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智工系二年級 ｜《機器學習》課程 ｜ 陳志騰(Allen)、吳佩蓉 ｜ 智慧工程學系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0515600" y="6565392"/>
            <a:ext cx="12188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 / 28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09728" cy="5943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FT Visual Vocabulary 九大類 × ML 場景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視覺化界的元素週期表</a:t>
            </a:r>
            <a:endParaRPr lang="en-US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088136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3840480"/>
                <a:gridCol w="3657600"/>
              </a:tblGrid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FT 類別</a:t>
                      </a:r>
                      <a:endParaRPr lang="en-US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ML 場景</a:t>
                      </a:r>
                      <a:endParaRPr lang="en-US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推薦圖表</a:t>
                      </a:r>
                      <a:endParaRPr lang="en-US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653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Magnitude(量級)</a:t>
                      </a:r>
                      <a:endParaRPr lang="en-US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特徵重要性排序</a:t>
                      </a:r>
                      <a:endParaRPr lang="en-US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Bar / Lollipop</a:t>
                      </a:r>
                      <a:endParaRPr lang="en-US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Distribution(分佈)</a:t>
                      </a:r>
                      <a:endParaRPr lang="en-US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預測值殘差分佈</a:t>
                      </a:r>
                      <a:endParaRPr lang="en-US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Histogram / KDE / Boxplot</a:t>
                      </a:r>
                      <a:endParaRPr lang="en-US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6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Correlation(關聯)</a:t>
                      </a:r>
                      <a:endParaRPr lang="en-US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特徵共線性</a:t>
                      </a:r>
                      <a:endParaRPr lang="en-US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Scatter / Heatmap</a:t>
                      </a:r>
                      <a:endParaRPr lang="en-US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Ranking(排序)</a:t>
                      </a:r>
                      <a:endParaRPr lang="en-US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模型比較表現</a:t>
                      </a:r>
                      <a:endParaRPr lang="en-US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Lollipop / Slope chart</a:t>
                      </a:r>
                      <a:endParaRPr lang="en-US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6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Change over Time</a:t>
                      </a:r>
                      <a:endParaRPr lang="en-US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訓練曲線 (loss/acc)</a:t>
                      </a:r>
                      <a:endParaRPr lang="en-US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Line / Area</a:t>
                      </a:r>
                      <a:endParaRPr lang="en-US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Part-to-Whole</a:t>
                      </a:r>
                      <a:endParaRPr lang="en-US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Confusion Matrix 比例</a:t>
                      </a:r>
                      <a:endParaRPr lang="en-US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Treemap / Stacked Bar</a:t>
                      </a:r>
                      <a:endParaRPr lang="en-US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6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Deviation(差異)</a:t>
                      </a:r>
                      <a:endParaRPr lang="en-US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預測 vs 實際</a:t>
                      </a:r>
                      <a:endParaRPr lang="en-US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Bullet / Variance</a:t>
                      </a:r>
                      <a:endParaRPr lang="en-US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Flow(流向)</a:t>
                      </a:r>
                      <a:endParaRPr lang="en-US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決策樹路徑</a:t>
                      </a:r>
                      <a:endParaRPr lang="en-US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Sankey / Network</a:t>
                      </a:r>
                      <a:endParaRPr lang="en-US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6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Spatial(空間)</a:t>
                      </a:r>
                      <a:endParaRPr lang="en-US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地理 ML 結果</a:t>
                      </a:r>
                      <a:endParaRPr lang="en-US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Choropleth</a:t>
                      </a:r>
                      <a:endParaRPr lang="en-US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6492240"/>
            <a:ext cx="1127729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智工系二年級 ｜《機器學習》課程 ｜ 陳志騰(Allen)、吳佩蓉 ｜ 智慧工程學系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0515600" y="6565392"/>
            <a:ext cx="12188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6 / 28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09728" cy="5943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視覺化 SOP:通用 vs 專屬框架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 通用 + 1~2 專屬 + 1 驗證曲線 — 比死記每模型清單好用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2A9D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【通用必畫 4 張】每個模型都一樣 — 診斷「資料」與「結果」</a:t>
            </a:r>
            <a:endParaRPr lang="en-US" sz="1800" dirty="0"/>
          </a:p>
          <a:p>
            <a:pPr lvl="1" marL="6858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① 資料分佈 pairplot  ② 相關熱圖 heatmap</a:t>
            </a:r>
            <a:endParaRPr lang="en-US" sz="1800" dirty="0"/>
          </a:p>
          <a:p>
            <a:pPr lvl="1" marL="6858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③ 混淆矩陣 (記得 pos_label)  ④ 特徵重要性</a:t>
            </a:r>
            <a:endParaRPr lang="en-US" sz="1800" dirty="0"/>
          </a:p>
          <a:p>
            <a:pPr lvl="1" marL="6858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76F5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   ⚠️ KNN/SVM 沒有 .feature_importances_,改用 permutation_importance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E76F5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【模型專屬 +1~2 張】依模型而異 — 診斷「機制」</a:t>
            </a:r>
            <a:endParaRPr lang="en-US" sz="1800" dirty="0"/>
          </a:p>
          <a:p>
            <a:pPr lvl="1" marL="6858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🌲 決策樹 → 樹結構圖 plot_tree</a:t>
            </a:r>
            <a:endParaRPr lang="en-US" sz="1800" dirty="0"/>
          </a:p>
          <a:p>
            <a:pPr lvl="1" marL="6858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📍 KNN → 決策邊界圖 DecisionBoundaryDisplay</a:t>
            </a:r>
            <a:endParaRPr lang="en-US" sz="1800" dirty="0"/>
          </a:p>
          <a:p>
            <a:pPr lvl="1" marL="6858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⚔️ SVM → 間隔/支持向量 clf.support_vectors_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E9C46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【★ 三模型都要再加】驗證曲線 validation_curve / learning_curve</a:t>
            </a:r>
            <a:endParaRPr lang="en-US" sz="1800" dirty="0"/>
          </a:p>
          <a:p>
            <a:pPr lvl="1" marL="6858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   診斷過擬合 vs 欠擬合 — train 與 val 曲線分岔大 = 過擬合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5074920"/>
            <a:ext cx="11277295" cy="868680"/>
          </a:xfrm>
          <a:prstGeom prst="rect">
            <a:avLst/>
          </a:prstGeom>
          <a:solidFill>
            <a:srgbClr val="FBE7E0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5074920"/>
            <a:ext cx="109728" cy="86868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516636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E76F5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🎯 SOP 3 步:先 4 通用 → 再問模型獨特機制補專屬 → 最後驗證曲線。詳見決策卡 viz_framework_card.html。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457200" y="6492240"/>
            <a:ext cx="1127729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智工系二年級 ｜《機器學習》課程 ｜ 陳志騰(Allen)、吳佩蓉 ｜ 智慧工程學系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515600" y="6565392"/>
            <a:ext cx="12188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7 / 28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828800" cy="365760"/>
          </a:xfrm>
          <a:prstGeom prst="rect">
            <a:avLst/>
          </a:prstGeom>
          <a:solidFill>
            <a:srgbClr val="F4A2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AI 鷹架輔助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2468880" y="365760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AI 鷹架 #1:用「通用 vs 專屬」框架建診斷清單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個人實作 8-10 分鐘 → 上傳 TronClass「W15 AI 鷹架 #1」隨堂回應欄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3606698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91640"/>
            <a:ext cx="3606698" cy="1371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965960"/>
            <a:ext cx="360669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E76F5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640080" y="3246120"/>
            <a:ext cx="324093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通用層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886200"/>
            <a:ext cx="324093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Prompt #1 — 4 通用圖的故障徵兆 + KNN/SVM 為何要用 permutation_importance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92498" y="1691640"/>
            <a:ext cx="3606698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2498" y="1691640"/>
            <a:ext cx="3606698" cy="1371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2498" y="1965960"/>
            <a:ext cx="360669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E76F5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4475378" y="3246120"/>
            <a:ext cx="324093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專屬層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475378" y="3886200"/>
            <a:ext cx="324093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Prompt #2 — 三選一(樹/邊界/間隔)補 1~2 張 + 驗證曲線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27797" y="1691640"/>
            <a:ext cx="3606698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27797" y="1691640"/>
            <a:ext cx="3606698" cy="1371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27797" y="1965960"/>
            <a:ext cx="360669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E76F5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6000" dirty="0"/>
          </a:p>
        </p:txBody>
      </p:sp>
      <p:sp>
        <p:nvSpPr>
          <p:cNvPr id="18" name="Text 16"/>
          <p:cNvSpPr/>
          <p:nvPr/>
        </p:nvSpPr>
        <p:spPr>
          <a:xfrm>
            <a:off x="8310677" y="3246120"/>
            <a:ext cx="324093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收斂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310677" y="3886200"/>
            <a:ext cx="324093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Prompt #3 — 整理成「4 通用 + 1~2 專屬 + 1 驗證」清單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521208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📝 全程開放 ChatGPT / Gemini / Claude / Copilot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562356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👉 Allen 走動巡視,3 分鐘抽 1 位簡述自己的『通用 vs 專屬』分類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6492240"/>
            <a:ext cx="1127729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智工系二年級 ｜《機器學習》課程 ｜ 陳志騰(Allen)、吳佩蓉 ｜ 智慧工程學系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515600" y="6565392"/>
            <a:ext cx="12188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8 / 28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E7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4572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0" b="1" dirty="0">
                <a:solidFill>
                  <a:srgbClr val="E76F51">
                    <a:alpha val="70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§2</a:t>
            </a:r>
            <a:endParaRPr lang="en-US" sz="18000" dirty="0"/>
          </a:p>
        </p:txBody>
      </p:sp>
      <p:sp>
        <p:nvSpPr>
          <p:cNvPr id="3" name="Text 1"/>
          <p:cNvSpPr/>
          <p:nvPr/>
        </p:nvSpPr>
        <p:spPr>
          <a:xfrm>
            <a:off x="5029200" y="2103120"/>
            <a:ext cx="66751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第二堂:sklearn + matplotlib/seaborn 雙軌實作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29200" y="3840480"/>
            <a:ext cx="6675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用 breast_cancer 練「四個必畫」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29200" y="466344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2A9D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50 分鐘 ｜ 雙軌實作 35 + 收尾小考 15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6492240"/>
            <a:ext cx="1127729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智工系二年級 ｜《機器學習》課程 ｜ 陳志騰(Allen)、吳佩蓉 ｜ 智慧工程學系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0" y="6565392"/>
            <a:ext cx="12188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9 / 28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09728" cy="5943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軌道 A:matplotlib + seaborn 四個必畫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對應 W15_demo_visualization_cells.py 的 Cell 1-4</a:t>
            </a:r>
            <a:endParaRPr lang="en-US" sz="1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08813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5029200"/>
                <a:gridCol w="4480560"/>
              </a:tblGrid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Cell</a:t>
                      </a:r>
                      <a:endParaRPr lang="en-US" sz="17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內容</a:t>
                      </a:r>
                      <a:endParaRPr lang="en-US" sz="17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關鍵 sklearn API</a:t>
                      </a:r>
                      <a:endParaRPr lang="en-US" sz="17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653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Cell 1</a:t>
                      </a:r>
                      <a:endParaRPr lang="en-US" sz="15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資料分佈圖(pairplot 4 特徵)</a:t>
                      </a:r>
                      <a:endParaRPr lang="en-US" sz="15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load_breast_cancer, sns.pairplot</a:t>
                      </a:r>
                      <a:endParaRPr lang="en-US" sz="15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Cell 2</a:t>
                      </a:r>
                      <a:endParaRPr lang="en-US" sz="15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特徵相關熱圖(Top 10 features)</a:t>
                      </a:r>
                      <a:endParaRPr lang="en-US" sz="15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df.corr(), sns.heatmap</a:t>
                      </a:r>
                      <a:endParaRPr lang="en-US" sz="15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Cell 3</a:t>
                      </a:r>
                      <a:endParaRPr lang="en-US" sz="15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混淆矩陣(KNN k=5)</a:t>
                      </a:r>
                      <a:endParaRPr lang="en-US" sz="15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ConfusionMatrixDisplay.from_predictions</a:t>
                      </a:r>
                      <a:endParaRPr lang="en-US" sz="15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Cell 4</a:t>
                      </a:r>
                      <a:endParaRPr lang="en-US" sz="15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特徵重要性(決策樹)</a:t>
                      </a:r>
                      <a:endParaRPr lang="en-US" sz="15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DecisionTreeClassifier, .feature_importances_</a:t>
                      </a:r>
                      <a:endParaRPr lang="en-US" sz="15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6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5074920"/>
            <a:ext cx="11277295" cy="868680"/>
          </a:xfrm>
          <a:prstGeom prst="rect">
            <a:avLst/>
          </a:prstGeom>
          <a:solidFill>
            <a:srgbClr val="FBE7E0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5074920"/>
            <a:ext cx="109728" cy="86868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516636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E76F5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配色用 #E76F51 (burnt sienna) + #2A9D8F (persian green)——和整堂課視覺一致。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457200" y="6492240"/>
            <a:ext cx="1127729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智工系二年級 ｜《機器學習》課程 ｜ 陳志騰(Allen)、吳佩蓉 ｜ 智慧工程學系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515600" y="6565392"/>
            <a:ext cx="12188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10 / 28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09728" cy="5943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Demo #1 — 必畫 #1:資料分佈 (pairplot)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良性 vs 惡性 在 4 個關鍵特徵上的分離度</a:t>
            </a:r>
            <a:endParaRPr lang="en-US" sz="1800" dirty="0"/>
          </a:p>
        </p:txBody>
      </p:sp>
      <p:pic>
        <p:nvPicPr>
          <p:cNvPr id="5" name="Image 0" descr="/sessions/stoic-inspiring-rubin/mnt/ML_W15_W18/output/W15_demo/01_data_distribu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463040"/>
            <a:ext cx="6583680" cy="47548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0" y="1463040"/>
            <a:ext cx="4416552" cy="4754880"/>
          </a:xfrm>
          <a:prstGeom prst="rect">
            <a:avLst/>
          </a:prstGeom>
          <a:solidFill>
            <a:srgbClr val="FDFAF6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315200" y="1463040"/>
            <a:ext cx="4416552" cy="10972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498080" y="16459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A9D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🔍 看出來什麼?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498080" y="2194560"/>
            <a:ext cx="41148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良性(綠)與惡性(橘紅)在 mean radius 與 mean area 兩個特徵上幾乎可線性切開——這資料有救。</a:t>
            </a:r>
            <a:endParaRPr lang="en-US" sz="1400" dirty="0"/>
          </a:p>
          <a:p>
            <a:pPr algn="l" indent="0" marL="0">
              <a:spcAft>
                <a:spcPts val="600"/>
              </a:spcAft>
              <a:buNone/>
            </a:pPr>
            <a:endParaRPr lang="en-US" sz="1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對角線的 histogram 顯示惡性樣本的 radius / area 中位數明顯大於良性。</a:t>
            </a:r>
            <a:endParaRPr lang="en-US" sz="1400" dirty="0"/>
          </a:p>
          <a:p>
            <a:pPr algn="l" indent="0" marL="0">
              <a:spcAft>
                <a:spcPts val="600"/>
              </a:spcAft>
              <a:buNone/>
            </a:pPr>
            <a:endParaRPr lang="en-US" sz="1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雙峰分佈的特徵就是『模型能學會』的訊號。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315200" y="5440680"/>
            <a:ext cx="4416552" cy="777240"/>
          </a:xfrm>
          <a:prstGeom prst="rect">
            <a:avLst/>
          </a:prstGeom>
          <a:solidFill>
            <a:srgbClr val="FBE7E0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315200" y="5440680"/>
            <a:ext cx="91440" cy="77724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98080" y="5486400"/>
            <a:ext cx="4160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🤔 如果這兩類完全重疊,KNN 還能用嗎?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6492240"/>
            <a:ext cx="1127729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智工系二年級 ｜《機器學習》課程 ｜ 陳志騰(Allen)、吳佩蓉 ｜ 智慧工程學系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0515600" y="6565392"/>
            <a:ext cx="12188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11 / 28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09728" cy="5943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Demo #2 — 必畫 #2:特徵相關熱圖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看到一片紅就是共線性災難</a:t>
            </a:r>
            <a:endParaRPr lang="en-US" sz="1800" dirty="0"/>
          </a:p>
        </p:txBody>
      </p:sp>
      <p:pic>
        <p:nvPicPr>
          <p:cNvPr id="5" name="Image 0" descr="/sessions/stoic-inspiring-rubin/mnt/ML_W15_W18/output/W15_demo/02_correlation_heatma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463040"/>
            <a:ext cx="6583680" cy="47548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0" y="1463040"/>
            <a:ext cx="4416552" cy="4754880"/>
          </a:xfrm>
          <a:prstGeom prst="rect">
            <a:avLst/>
          </a:prstGeom>
          <a:solidFill>
            <a:srgbClr val="FDFAF6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315200" y="1463040"/>
            <a:ext cx="4416552" cy="10972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498080" y="16459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A9D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🔍 看出來什麼?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498080" y="2194560"/>
            <a:ext cx="41148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radius / perimeter / area 三者深紅一片 = 高度共線性(都在描述「腫瘤大小」)。</a:t>
            </a:r>
            <a:endParaRPr lang="en-US" sz="1400" dirty="0"/>
          </a:p>
          <a:p>
            <a:pPr algn="l" indent="0" marL="0">
              <a:spcAft>
                <a:spcPts val="600"/>
              </a:spcAft>
              <a:buNone/>
            </a:pPr>
            <a:endParaRPr lang="en-US" sz="1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SVM 與線性回歸對共線性極敏感——係數會爆炸。</a:t>
            </a:r>
            <a:endParaRPr lang="en-US" sz="1400" dirty="0"/>
          </a:p>
          <a:p>
            <a:pPr algn="l" indent="0" marL="0">
              <a:spcAft>
                <a:spcPts val="600"/>
              </a:spcAft>
              <a:buNone/>
            </a:pPr>
            <a:endParaRPr lang="en-US" sz="1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KNN 比較不怕,但會讓某些『其實是同一件事』的特徵被重複加權。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315200" y="5440680"/>
            <a:ext cx="4416552" cy="777240"/>
          </a:xfrm>
          <a:prstGeom prst="rect">
            <a:avLst/>
          </a:prstGeom>
          <a:solidFill>
            <a:srgbClr val="FBE7E0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315200" y="5440680"/>
            <a:ext cx="91440" cy="77724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98080" y="5486400"/>
            <a:ext cx="4160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🤔 共線性高的特徵要全留嗎?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6492240"/>
            <a:ext cx="1127729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智工系二年級 ｜《機器學習》課程 ｜ 陳志騰(Allen)、吳佩蓉 ｜ 智慧工程學系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0515600" y="6565392"/>
            <a:ext cx="12188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12 / 28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09728" cy="5943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Demo #3 — 必畫 #3:混淆矩陣 (KNN k=5, 惡性為 positive)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acc=0.959, recall(惡性)=0.891 — 漏判 7 個惡性</a:t>
            </a:r>
            <a:endParaRPr lang="en-US" sz="1800" dirty="0"/>
          </a:p>
        </p:txBody>
      </p:sp>
      <p:pic>
        <p:nvPicPr>
          <p:cNvPr id="5" name="Image 0" descr="/sessions/stoic-inspiring-rubin/mnt/ML_W15_W18/output/W15_demo/03_confusion_matrix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463040"/>
            <a:ext cx="6583680" cy="47548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0" y="1463040"/>
            <a:ext cx="4416552" cy="4754880"/>
          </a:xfrm>
          <a:prstGeom prst="rect">
            <a:avLst/>
          </a:prstGeom>
          <a:solidFill>
            <a:srgbClr val="FDFAF6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315200" y="1463040"/>
            <a:ext cx="4416552" cy="10972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498080" y="16459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A9D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🔍 看出來什麼?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498080" y="2194560"/>
            <a:ext cx="41148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FN=7 (漏判 7 個惡性)、FP=0 (沒誤判健康人)。</a:t>
            </a:r>
            <a:endParaRPr lang="en-US" sz="1400" dirty="0"/>
          </a:p>
          <a:p>
            <a:pPr algn="l" indent="0" marL="0">
              <a:spcAft>
                <a:spcPts val="600"/>
              </a:spcAft>
              <a:buNone/>
            </a:pPr>
            <a:endParaRPr lang="en-US" sz="1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在乳癌篩檢這是危險方向 — recall 只有 0.89, 不是「寧可錯殺一百」。</a:t>
            </a:r>
            <a:endParaRPr lang="en-US" sz="1400" dirty="0"/>
          </a:p>
          <a:p>
            <a:pPr algn="l" indent="0" marL="0">
              <a:spcAft>
                <a:spcPts val="600"/>
              </a:spcAft>
              <a:buNone/>
            </a:pPr>
            <a:endParaRPr lang="en-US" sz="1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教訓:sklearn 預設 pos_label=1, 算的是 benign 的 recall=1.000。</a:t>
            </a:r>
            <a:endParaRPr lang="en-US" sz="1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  必須改用 pos_label=0 才能看到醫學上有意義的 recall。</a:t>
            </a:r>
            <a:endParaRPr lang="en-US" sz="1400" dirty="0"/>
          </a:p>
          <a:p>
            <a:pPr algn="l" indent="0" marL="0">
              <a:spcAft>
                <a:spcPts val="600"/>
              </a:spcAft>
              <a:buNone/>
            </a:pPr>
            <a:endParaRPr lang="en-US" sz="1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講師自身錯誤示範:這是好教材, 提醒你「先看資料再寫敘事」。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315200" y="5440680"/>
            <a:ext cx="4416552" cy="777240"/>
          </a:xfrm>
          <a:prstGeom prst="rect">
            <a:avLst/>
          </a:prstGeom>
          <a:solidFill>
            <a:srgbClr val="FBE7E0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315200" y="5440680"/>
            <a:ext cx="91440" cy="77724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98080" y="5486400"/>
            <a:ext cx="4160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🤔 你以前寫過的混淆矩陣, 有指定過 pos_label 嗎?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6492240"/>
            <a:ext cx="1127729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智工系二年級 ｜《機器學習》課程 ｜ 陳志騰(Allen)、吳佩蓉 ｜ 智慧工程學系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0515600" y="6565392"/>
            <a:ext cx="12188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13 / 28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09728" cy="5943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Demo #4 — 必畫 #4:特徵重要性 (決策樹)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模型靠這些特徵做決策</a:t>
            </a:r>
            <a:endParaRPr lang="en-US" sz="1800" dirty="0"/>
          </a:p>
        </p:txBody>
      </p:sp>
      <p:pic>
        <p:nvPicPr>
          <p:cNvPr id="5" name="Image 0" descr="/sessions/stoic-inspiring-rubin/mnt/ML_W15_W18/output/W15_demo/04_feature_importanc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463040"/>
            <a:ext cx="6583680" cy="47548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0" y="1463040"/>
            <a:ext cx="4416552" cy="4754880"/>
          </a:xfrm>
          <a:prstGeom prst="rect">
            <a:avLst/>
          </a:prstGeom>
          <a:solidFill>
            <a:srgbClr val="FDFAF6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315200" y="1463040"/>
            <a:ext cx="4416552" cy="10972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498080" y="16459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A9D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🔍 看出來什麼?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498080" y="2194560"/>
            <a:ext cx="41148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worst radius / worst concave points 兩個就吃掉一大半重要性。</a:t>
            </a:r>
            <a:endParaRPr lang="en-US" sz="1400" dirty="0"/>
          </a:p>
          <a:p>
            <a:pPr algn="l" indent="0" marL="0">
              <a:spcAft>
                <a:spcPts val="600"/>
              </a:spcAft>
              <a:buNone/>
            </a:pPr>
            <a:endParaRPr lang="en-US" sz="1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其他 28 個特徵的貢獻邊際遞減 — 帕雷托法則在 ML 也成立。</a:t>
            </a:r>
            <a:endParaRPr lang="en-US" sz="1400" dirty="0"/>
          </a:p>
          <a:p>
            <a:pPr algn="l" indent="0" marL="0">
              <a:spcAft>
                <a:spcPts val="600"/>
              </a:spcAft>
              <a:buNone/>
            </a:pPr>
            <a:endParaRPr lang="en-US" sz="1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這張圖是給『沒寫過程式的廠長』看的最佳武器:</a:t>
            </a:r>
            <a:endParaRPr lang="en-US" sz="1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  『模型告訴我們,只要盯著這兩個指標就夠了。』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315200" y="5440680"/>
            <a:ext cx="4416552" cy="777240"/>
          </a:xfrm>
          <a:prstGeom prst="rect">
            <a:avLst/>
          </a:prstGeom>
          <a:solidFill>
            <a:srgbClr val="FBE7E0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315200" y="5440680"/>
            <a:ext cx="91440" cy="77724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98080" y="5486400"/>
            <a:ext cx="4160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🤔 頂多 3 個特徵的決策樹,效果會差很多嗎?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6492240"/>
            <a:ext cx="1127729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智工系二年級 ｜《機器學習》課程 ｜ 陳志騰(Allen)、吳佩蓉 ｜ 智慧工程學系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0515600" y="6565392"/>
            <a:ext cx="12188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14 / 28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D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828800" cy="365760"/>
          </a:xfrm>
          <a:prstGeom prst="rect">
            <a:avLst/>
          </a:prstGeom>
          <a:solidFill>
            <a:srgbClr val="F4A2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AI 鷹架輔助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2468880" y="365760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AI 鷹架 #2:圖表選型 + 程式碼產出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個人實作 10 分鐘 → 上傳 TronClass「W15 AI 鷹架 #2」隨堂回應欄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3606698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91640"/>
            <a:ext cx="3606698" cy="1371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965960"/>
            <a:ext cx="360669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E76F5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640080" y="3246120"/>
            <a:ext cx="324093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選型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886200"/>
            <a:ext cx="324093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請 AI 為 3 件事各推薦一張圖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92498" y="1691640"/>
            <a:ext cx="3606698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2498" y="1691640"/>
            <a:ext cx="3606698" cy="1371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2498" y="1965960"/>
            <a:ext cx="360669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E76F5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4475378" y="3246120"/>
            <a:ext cx="324093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產碼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475378" y="3886200"/>
            <a:ext cx="324093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請 AI 寫 matplotlib + seaborn 程式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27797" y="1691640"/>
            <a:ext cx="3606698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27797" y="1691640"/>
            <a:ext cx="3606698" cy="1371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27797" y="1965960"/>
            <a:ext cx="360669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E76F5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6000" dirty="0"/>
          </a:p>
        </p:txBody>
      </p:sp>
      <p:sp>
        <p:nvSpPr>
          <p:cNvPr id="18" name="Text 16"/>
          <p:cNvSpPr/>
          <p:nvPr/>
        </p:nvSpPr>
        <p:spPr>
          <a:xfrm>
            <a:off x="8310677" y="3246120"/>
            <a:ext cx="324093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彙整 + 截圖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310677" y="3886200"/>
            <a:ext cx="324093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100 字彙整 + 3 張圖截圖上傳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521208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📝 AI 工具不限,配色一定要用 #E76F51 / #2A9D8F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562356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👉 Allen 抽 2 位讓 AI 跑的圖投影出來即時點評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6492240"/>
            <a:ext cx="1127729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智工系二年級 ｜《機器學習》課程 ｜ 陳志騰(Allen)、吳佩蓉 ｜ 智慧工程學系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515600" y="6565392"/>
            <a:ext cx="12188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15 / 28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09728" cy="5943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即時小考:FN 比 FP 多 5 倍,你會怎麼做?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情境:乳癌診斷模型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A. 提高 K 值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E76F5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B. 調整決策閾值降低陽性門檻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C. 重新蒐集資料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D. 把 accuracy 印大一點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5074920"/>
            <a:ext cx="11277295" cy="1325880"/>
          </a:xfrm>
          <a:prstGeom prst="rect">
            <a:avLst/>
          </a:prstGeom>
          <a:solidFill>
            <a:srgbClr val="FBE7E0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5074920"/>
            <a:ext cx="109728" cy="132588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51663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E76F5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正解:B。漏掉惡性(FN)成本遠高於誤判健康(FP)。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77240" y="585216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先問視覺化能不能讓你不用重收集——這才是分析師的眼光。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6492240"/>
            <a:ext cx="1127729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智工系二年級 ｜《機器學習》課程 ｜ 陳志騰(Allen)、吳佩蓉 ｜ 智慧工程學系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515600" y="6565392"/>
            <a:ext cx="12188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16 / 28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E7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4572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0" b="1" dirty="0">
                <a:solidFill>
                  <a:srgbClr val="E76F51">
                    <a:alpha val="70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§3</a:t>
            </a:r>
            <a:endParaRPr lang="en-US" sz="18000" dirty="0"/>
          </a:p>
        </p:txBody>
      </p:sp>
      <p:sp>
        <p:nvSpPr>
          <p:cNvPr id="3" name="Text 1"/>
          <p:cNvSpPr/>
          <p:nvPr/>
        </p:nvSpPr>
        <p:spPr>
          <a:xfrm>
            <a:off x="5029200" y="2103120"/>
            <a:ext cx="66751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第三堂:FT Vocabulary 套用 + SCQA 起手式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29200" y="3840480"/>
            <a:ext cx="6675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從圖表選型,到故事張力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29200" y="466344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2A9D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50 分鐘 ｜ 概念 15 + 壞圖診所 20 + 期末考預告 15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6492240"/>
            <a:ext cx="1127729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智工系二年級 ｜《機器學習》課程 ｜ 陳志騰(Allen)、吳佩蓉 ｜ 智慧工程學系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0" y="6565392"/>
            <a:ext cx="12188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17 / 28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09728" cy="5943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SCQA × 見識謀斷 對應到 ML 報告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FT 給你字典,SCQA 給你句法</a:t>
            </a:r>
            <a:endParaRPr lang="en-US" sz="18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08813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286000"/>
                <a:gridCol w="4114800"/>
                <a:gridCol w="2468880"/>
              </a:tblGrid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SCQA</a:t>
                      </a:r>
                      <a:endParaRPr lang="en-US" sz="17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見識謀斷</a:t>
                      </a:r>
                      <a:endParaRPr lang="en-US" sz="17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ML 報告階段</a:t>
                      </a:r>
                      <a:endParaRPr lang="en-US" sz="17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推薦圖表</a:t>
                      </a:r>
                      <a:endParaRPr lang="en-US" sz="17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653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 情境</a:t>
                      </a:r>
                      <a:endParaRPr lang="en-US" sz="15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見</a:t>
                      </a:r>
                      <a:endParaRPr lang="en-US" sz="15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「我們有什麼資料?」</a:t>
                      </a:r>
                      <a:endParaRPr lang="en-US" sz="15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Bar / KPI Card</a:t>
                      </a:r>
                      <a:endParaRPr lang="en-US" sz="15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 衝突</a:t>
                      </a:r>
                      <a:endParaRPr lang="en-US" sz="15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識</a:t>
                      </a:r>
                      <a:endParaRPr lang="en-US" sz="15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「資料不平衡 / 模型偏誤」</a:t>
                      </a:r>
                      <a:endParaRPr lang="en-US" sz="15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Bullet / Heatmap</a:t>
                      </a:r>
                      <a:endParaRPr lang="en-US" sz="15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Q 問題</a:t>
                      </a:r>
                      <a:endParaRPr lang="en-US" sz="15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識</a:t>
                      </a:r>
                      <a:endParaRPr lang="en-US" sz="15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「為什麼 recall 這麼低?」</a:t>
                      </a:r>
                      <a:endParaRPr lang="en-US" sz="15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(敘事文字)</a:t>
                      </a:r>
                      <a:endParaRPr lang="en-US" sz="15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 答案</a:t>
                      </a:r>
                      <a:endParaRPr lang="en-US" sz="15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謀+斷</a:t>
                      </a:r>
                      <a:endParaRPr lang="en-US" sz="15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「為什麼選這個模型?」</a:t>
                      </a:r>
                      <a:endParaRPr lang="en-US" sz="15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Slope / Radar</a:t>
                      </a:r>
                      <a:endParaRPr lang="en-US" sz="15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6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6492240"/>
            <a:ext cx="1127729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智工系二年級 ｜《機器學習》課程 ｜ 陳志騰(Allen)、吳佩蓉 ｜ 智慧工程學系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0515600" y="6565392"/>
            <a:ext cx="12188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18 / 28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09728" cy="5943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每張圖三層字:標題、圖、註記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三層都要寫齊,這個圖才完整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76F5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❌ 壞範例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52120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標題:模型表現</a:t>
            </a:r>
            <a:endParaRPr lang="en-US" sz="18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圖:混淆矩陣</a:t>
            </a:r>
            <a:endParaRPr lang="en-US" sz="18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註記:(無)</a:t>
            </a:r>
            <a:endParaRPr lang="en-US" sz="1800" dirty="0"/>
          </a:p>
          <a:p>
            <a:pPr algn="l" indent="0" marL="0">
              <a:spcAft>
                <a:spcPts val="800"/>
              </a:spcAft>
              <a:buNone/>
            </a:pPr>
            <a:endParaRPr lang="en-US" sz="18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讀者看完沒結論,要自己看數字推敲。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309360" y="12801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A9D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✅ 好範例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309360" y="1691640"/>
            <a:ext cx="52120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標題:KNN 在惡性類別漏判 18%,建議調整決策閾值</a:t>
            </a:r>
            <a:endParaRPr lang="en-US" sz="18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圖:混淆矩陣(FN 那格用紅色強調)</a:t>
            </a:r>
            <a:endParaRPr lang="en-US" sz="18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註記:測試集 171 筆;k=5;StandardScaler 預處理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6492240"/>
            <a:ext cx="1127729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智工系二年級 ｜《機器學習》課程 ｜ 陳志騰(Allen)、吳佩蓉 ｜ 智慧工程學系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515600" y="6565392"/>
            <a:ext cx="12188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19 / 28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09728" cy="5943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首頁圖 (Hero Chart) 設計七原則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12 頁報告主管看 1 張——這張佔總分 20%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1. 一張圖回答一個問題 — 不要塞多個故事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2. 結論式標題 — 標題就是結論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3. 顏色語意一致 — 紅色代表壞、綠色代表好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4. 去除 chartjunk — 沒有 3D、沒有陰影、沒有過多格線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5. 標出關鍵點 — 用箭頭/註解直接標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6. 比較對象明確 — 沒有比較對象的圖等於沒結論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7. 資料來源在右下 — 註明資料筆數、切分方法、隨機種子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6492240"/>
            <a:ext cx="1127729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智工系二年級 ｜《機器學習》課程 ｜ 陳志騰(Allen)、吳佩蓉 ｜ 智慧工程學系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0" y="6565392"/>
            <a:ext cx="12188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20 / 28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D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828800" cy="365760"/>
          </a:xfrm>
          <a:prstGeom prst="rect">
            <a:avLst/>
          </a:prstGeom>
          <a:solidFill>
            <a:srgbClr val="F4A2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AI 鷹架輔助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2468880" y="365760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AI 鷹架 #3:壞圖診斷與重設計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抽 1 張壞 ML 圖編號 → 個人實作 20 分鐘 → 上傳 TronClass「W15 AI 鷹架 #3」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3606698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91640"/>
            <a:ext cx="3606698" cy="1371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965960"/>
            <a:ext cx="360669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E76F5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640080" y="3246120"/>
            <a:ext cx="324093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診斷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886200"/>
            <a:ext cx="324093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找出 3 個拖慢決策速度的缺陷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92498" y="1691640"/>
            <a:ext cx="3606698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2498" y="1691640"/>
            <a:ext cx="3606698" cy="1371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2498" y="1965960"/>
            <a:ext cx="360669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E76F5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4475378" y="3246120"/>
            <a:ext cx="324093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重設計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475378" y="3886200"/>
            <a:ext cx="324093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請 AI 給結論式標題與程式骨架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27797" y="1691640"/>
            <a:ext cx="3606698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27797" y="1691640"/>
            <a:ext cx="3606698" cy="1371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27797" y="1965960"/>
            <a:ext cx="360669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E76F5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6000" dirty="0"/>
          </a:p>
        </p:txBody>
      </p:sp>
      <p:sp>
        <p:nvSpPr>
          <p:cNvPr id="18" name="Text 16"/>
          <p:cNvSpPr/>
          <p:nvPr/>
        </p:nvSpPr>
        <p:spPr>
          <a:xfrm>
            <a:off x="8310677" y="3246120"/>
            <a:ext cx="324093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彙整 + 上傳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310677" y="3886200"/>
            <a:ext cx="324093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100 字彙整 + AI 建議標題上傳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521208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📝 Allen 投影抽 2-3 位的回應即時點評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562356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👉 Allen 點評後留 3 分鐘讓你修改自己的版本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6492240"/>
            <a:ext cx="1127729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智工系二年級 ｜《機器學習》課程 ｜ 陳志騰(Allen)、吳佩蓉 ｜ 智慧工程學系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515600" y="6565392"/>
            <a:ext cx="12188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21 / 28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09728" cy="5943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W18 期末考預告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今天先講大方向,W17 第二堂公布題本與資料集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E76F5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形式:個人實作 + AI 全面開放協作</a:t>
            </a:r>
            <a:endParaRPr lang="en-US" sz="1800" dirty="0"/>
          </a:p>
          <a:p>
            <a:pPr lvl="1" marL="6858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  不分組、不可互相討論、不抽問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E76F5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時長:W18 上午,共 130 分鐘(實作主體 95 分鐘)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E76F5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繳交:3 個檔案(缺一當題零分)</a:t>
            </a:r>
            <a:endParaRPr lang="en-US" sz="1800" dirty="0"/>
          </a:p>
          <a:p>
            <a:pPr lvl="1" marL="6858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  ① Notebook (.ipynb)</a:t>
            </a:r>
            <a:endParaRPr lang="en-US" sz="1800" dirty="0"/>
          </a:p>
          <a:p>
            <a:pPr lvl="1" marL="6858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  ② 首頁圖 (.png)</a:t>
            </a:r>
            <a:endParaRPr lang="en-US" sz="1800" dirty="0"/>
          </a:p>
          <a:p>
            <a:pPr lvl="1" marL="6858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  ③ 簡報 (.pdf / .pptx,版型自由)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E76F5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評分:技術 25%、視覺敘事 75%</a:t>
            </a:r>
            <a:endParaRPr lang="en-US" sz="1800" dirty="0"/>
          </a:p>
          <a:p>
            <a:pPr lvl="1" marL="6858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  ←—這個比例不是要你忽略技術,是因為大家技術都差不多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6492240"/>
            <a:ext cx="1127729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智工系二年級 ｜《機器學習》課程 ｜ 陳志騰(Allen)、吳佩蓉 ｜ 智慧工程學系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0" y="6565392"/>
            <a:ext cx="12188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22 / 28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09728" cy="5943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🎓 W15 學習重點與實踐建議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SCQA 三件事,帶回去就行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E76F5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視覺編碼直覺 (S, Discover 見)</a:t>
            </a:r>
            <a:endParaRPr lang="en-US" sz="1800" dirty="0"/>
          </a:p>
          <a:p>
            <a:pPr lvl="1" marL="6858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  通道有等級:位置 &gt; 長度 &gt; 顏色;重要訊號用位置,類別用色相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E76F5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「四個必畫」紀律 (C, Define 識)</a:t>
            </a:r>
            <a:endParaRPr lang="en-US" sz="1800" dirty="0"/>
          </a:p>
          <a:p>
            <a:pPr lvl="1" marL="6858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  資料分佈、特徵相關熱圖、混淆矩陣、特徵重要性—少一張要說明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E76F5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AI 鷹架三段式 (A, Decide 斷)</a:t>
            </a:r>
            <a:endParaRPr lang="en-US" sz="1800" dirty="0"/>
          </a:p>
          <a:p>
            <a:pPr lvl="1" marL="6858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  拆解 → 產碼 → 彙整。每次結束貼「請彙整以上互動討論,提供 100 字內的重點彙整」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6492240"/>
            <a:ext cx="1127729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智工系二年級 ｜《機器學習》課程 ｜ 陳志騰(Allen)、吳佩蓉 ｜ 智慧工程學系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0" y="6565392"/>
            <a:ext cx="12188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23 / 28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09728" cy="5943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📝 Allen 老師隨堂叮嚀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88136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200" i="1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機器學習教你怎麼讓 accuracy 變高,</a:t>
            </a:r>
            <a:endParaRPr lang="en-US" sz="22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2200" i="1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視覺化教你怎麼讓決策者「相信」這個 accuracy。</a:t>
            </a:r>
            <a:endParaRPr lang="en-US" sz="2200" dirty="0"/>
          </a:p>
          <a:p>
            <a:pPr algn="l" indent="0" marL="0">
              <a:spcAft>
                <a:spcPts val="1000"/>
              </a:spcAft>
              <a:buNone/>
            </a:pPr>
            <a:endParaRPr lang="en-US" sz="22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2200" i="1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前者是科學家的工作,後者是工程師的工作。</a:t>
            </a:r>
            <a:endParaRPr lang="en-US" sz="22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2200" i="1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智工系畢業之後,你會花 30% 時間訓練模型,</a:t>
            </a:r>
            <a:endParaRPr lang="en-US" sz="22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2200" i="1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70% 時間說服別人這個模型。</a:t>
            </a:r>
            <a:endParaRPr lang="en-US" sz="2200" dirty="0"/>
          </a:p>
          <a:p>
            <a:pPr algn="l" indent="0" marL="0">
              <a:spcAft>
                <a:spcPts val="1000"/>
              </a:spcAft>
              <a:buNone/>
            </a:pPr>
            <a:endParaRPr lang="en-US" sz="22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2200" i="1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這 70%,從這 3 週開始練。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6492240"/>
            <a:ext cx="1127729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智工系二年級 ｜《機器學習》課程 ｜ 陳志騰(Allen)、吳佩蓉 ｜ 智慧工程學系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0" y="6565392"/>
            <a:ext cx="12188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24 / 28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09728" cy="5943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下週預告:W16 維度模型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解決「特徵 30 個以上時,圖表怎麼畫?」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E76F5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PCA / t-SNE 降維:把 64 維 digits 投影到 2D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E76F5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Facet 小型多重圖:多個模型/類別 並排比較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E76F5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長寬資料 melt / pivot:seaborn 多類別圖的鑰匙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E76F5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雷達圖 + 平行座標:多模型多指標 同框比較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2A9D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預習提示</a:t>
            </a:r>
            <a:endParaRPr lang="en-US" sz="1800" dirty="0"/>
          </a:p>
          <a:p>
            <a:pPr lvl="1" marL="6858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  下週會用到 sklearn.decomposition.PCA 與 sklearn.manifold.TSNE</a:t>
            </a:r>
            <a:endParaRPr lang="en-US" sz="1800" dirty="0"/>
          </a:p>
          <a:p>
            <a:pPr lvl="1" marL="6858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  可以先用 load_digits() 跑跑看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6492240"/>
            <a:ext cx="1127729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智工系二年級 ｜《機器學習》課程 ｜ 陳志騰(Allen)、吳佩蓉 ｜ 智慧工程學系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0" y="6565392"/>
            <a:ext cx="12188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25 / 28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09728" cy="5943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📚 W15 課堂資源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全部放在 TronClass 與 GitHub repo</a:t>
            </a:r>
            <a:endParaRPr lang="en-US" sz="18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088136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3657600"/>
                <a:gridCol w="3108960"/>
              </a:tblGrid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資源</a:t>
                      </a:r>
                      <a:endParaRPr lang="en-US" sz="17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位置</a:t>
                      </a:r>
                      <a:endParaRPr lang="en-US" sz="17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用途</a:t>
                      </a:r>
                      <a:endParaRPr lang="en-US" sz="17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653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W15 講義 (PDF)</a:t>
                      </a:r>
                      <a:endParaRPr lang="en-US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TronClass W15 公告</a:t>
                      </a:r>
                      <a:endParaRPr lang="en-US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課後複習</a:t>
                      </a:r>
                      <a:endParaRPr lang="en-US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W15 簡報 (PPTX)</a:t>
                      </a:r>
                      <a:endParaRPr lang="en-US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TronClass W15 公告</a:t>
                      </a:r>
                      <a:endParaRPr lang="en-US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本份簡報</a:t>
                      </a:r>
                      <a:endParaRPr lang="en-US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W15_demo_visualization_cells.py</a:t>
                      </a:r>
                      <a:endParaRPr lang="en-US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GitHub repo</a:t>
                      </a:r>
                      <a:endParaRPr lang="en-US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VS Code 跑示範</a:t>
                      </a:r>
                      <a:endParaRPr lang="en-US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FT Visual Vocabulary 海報</a:t>
                      </a:r>
                      <a:endParaRPr lang="en-US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教室後牆 + QR Code</a:t>
                      </a:r>
                      <a:endParaRPr lang="en-US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選圖時對照</a:t>
                      </a:r>
                      <a:endParaRPr lang="en-US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AI 鷹架 #1/#2/#3 上傳欄</a:t>
                      </a:r>
                      <a:endParaRPr lang="en-US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TronClass W15</a:t>
                      </a:r>
                      <a:endParaRPr lang="en-US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本週 3 個實作產出</a:t>
                      </a:r>
                      <a:endParaRPr lang="en-US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6492240"/>
            <a:ext cx="1127729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智工系二年級 ｜《機器學習》課程 ｜ 陳志騰(Allen)、吳佩蓉 ｜ 智慧工程學系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0515600" y="6565392"/>
            <a:ext cx="12188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26 / 28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09728" cy="5943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Q&amp;A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三週後見 → W18 期末考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E76F5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有問題?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(可以舉手,也可以下課後私下問)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6492240"/>
            <a:ext cx="1127729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智工系二年級 ｜《機器學習》課程 ｜ 陳志騰(Allen)、吳佩蓉 ｜ 智慧工程學系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515600" y="6565392"/>
            <a:ext cx="12188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27 / 28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2860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Thank you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640080" y="39319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FFD27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下週見 — W16 維度模型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2026-05-31T03:21:52Z</dcterms:created>
  <dcterms:modified xsi:type="dcterms:W3CDTF">2026-05-31T03:21:52Z</dcterms:modified>
</cp:coreProperties>
</file>